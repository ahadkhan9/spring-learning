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8634C00-F3DF-4D83-84E5-A986585F87C4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71067F9-423D-4D37-9066-734BFA42CAF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A22F5EE-8007-4DAD-8C14-73CF0B257EB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31A858-06FC-4703-88CF-0298FEAAD87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CA568C-281D-4DDD-8C15-1F5AF7E046F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C083BF-24B6-4811-A185-7187CBD2543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F397F34-E1B9-4F2B-820D-B09ACED8184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99608D-0206-49FC-8223-A065B5EC9DD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d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</a:t>
            </a: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d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d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d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d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d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d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IN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d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793800" y="693000"/>
            <a:ext cx="75560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DocuMind - RAG-Based PDF AI Assistant</a:t>
            </a:r>
            <a:endParaRPr b="0" lang="en-IN" sz="4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793800" y="2450880"/>
            <a:ext cx="510120" cy="510120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1531080" y="25286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Developer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1531080" y="3018960"/>
            <a:ext cx="68191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Ahad Ahmad Khan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793800" y="3835440"/>
            <a:ext cx="510120" cy="510120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5"/>
          <p:cNvSpPr/>
          <p:nvPr/>
        </p:nvSpPr>
        <p:spPr>
          <a:xfrm>
            <a:off x="1531080" y="39135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Project Overview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1531080" y="4403880"/>
            <a:ext cx="68191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AI assistant for PDF analysis.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793800" y="5220360"/>
            <a:ext cx="510120" cy="510120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1531080" y="52981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Key Innovation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1531080" y="5788800"/>
            <a:ext cx="68191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RAG architecture for document conversations.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793800" y="6605280"/>
            <a:ext cx="510120" cy="510120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1"/>
          <p:cNvSpPr/>
          <p:nvPr/>
        </p:nvSpPr>
        <p:spPr>
          <a:xfrm>
            <a:off x="1531080" y="66830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Tech Stack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1531080" y="7173360"/>
            <a:ext cx="68191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Python, Streamlit, Google Gemini 1.5-Flash, ChromaDB.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0"/>
          <p:cNvSpPr/>
          <p:nvPr/>
        </p:nvSpPr>
        <p:spPr>
          <a:xfrm>
            <a:off x="6280200" y="868680"/>
            <a:ext cx="666720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Why RAG Architecture?</a:t>
            </a:r>
            <a:endParaRPr b="0" lang="en-IN" sz="4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1" descr="preencoded.png"/>
          <p:cNvPicPr/>
          <p:nvPr/>
        </p:nvPicPr>
        <p:blipFill>
          <a:blip r:embed="rId2"/>
          <a:stretch/>
        </p:blipFill>
        <p:spPr>
          <a:xfrm>
            <a:off x="6280200" y="1917360"/>
            <a:ext cx="1133640" cy="13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1"/>
          <p:cNvSpPr/>
          <p:nvPr/>
        </p:nvSpPr>
        <p:spPr>
          <a:xfrm>
            <a:off x="7641000" y="21441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Problem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7641000" y="2634840"/>
            <a:ext cx="6195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AI lacks specific document access.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Image 2" descr="preencoded.png"/>
          <p:cNvPicPr/>
          <p:nvPr/>
        </p:nvPicPr>
        <p:blipFill>
          <a:blip r:embed="rId3"/>
          <a:stretch/>
        </p:blipFill>
        <p:spPr>
          <a:xfrm>
            <a:off x="6280200" y="3278520"/>
            <a:ext cx="1133640" cy="13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3"/>
          <p:cNvSpPr/>
          <p:nvPr/>
        </p:nvSpPr>
        <p:spPr>
          <a:xfrm>
            <a:off x="7641000" y="35053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RAG Solution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7641000" y="3995640"/>
            <a:ext cx="6195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Retrieval + Augmentation + Generation.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3" descr="preencoded.png"/>
          <p:cNvPicPr/>
          <p:nvPr/>
        </p:nvPicPr>
        <p:blipFill>
          <a:blip r:embed="rId4"/>
          <a:stretch/>
        </p:blipFill>
        <p:spPr>
          <a:xfrm>
            <a:off x="6280200" y="4639320"/>
            <a:ext cx="1133640" cy="13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5"/>
          <p:cNvSpPr/>
          <p:nvPr/>
        </p:nvSpPr>
        <p:spPr>
          <a:xfrm>
            <a:off x="7641000" y="48661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Implementation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7641000" y="5356440"/>
            <a:ext cx="6195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PDF → Vectors → Search → AI response.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4" descr="preencoded.png"/>
          <p:cNvPicPr/>
          <p:nvPr/>
        </p:nvPicPr>
        <p:blipFill>
          <a:blip r:embed="rId5"/>
          <a:stretch/>
        </p:blipFill>
        <p:spPr>
          <a:xfrm>
            <a:off x="6280200" y="6000120"/>
            <a:ext cx="1133640" cy="13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7"/>
          <p:cNvSpPr/>
          <p:nvPr/>
        </p:nvSpPr>
        <p:spPr>
          <a:xfrm>
            <a:off x="7641000" y="62269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Key Benefit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7641000" y="6717240"/>
            <a:ext cx="6195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Exact source attribution.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793800" y="664560"/>
            <a:ext cx="93016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Technical Architecture Overview</a:t>
            </a:r>
            <a:endParaRPr b="0" lang="en-IN" sz="4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0" descr="preencoded.png"/>
          <p:cNvPicPr/>
          <p:nvPr/>
        </p:nvPicPr>
        <p:blipFill>
          <a:blip r:embed="rId1"/>
          <a:stretch/>
        </p:blipFill>
        <p:spPr>
          <a:xfrm>
            <a:off x="793800" y="1968840"/>
            <a:ext cx="6244200" cy="427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1"/>
          <p:cNvSpPr/>
          <p:nvPr/>
        </p:nvSpPr>
        <p:spPr>
          <a:xfrm>
            <a:off x="7599600" y="19404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Component Flow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7599600" y="252144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c9c9c0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Streamlit UI → RAG Pipeline → Google AI.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7599600" y="31111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Core Components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7599600" y="369252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c9c9c0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pdf_processor.py, vector_store.py, google_ai.py, chat_manager.py.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7599600" y="46450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Data Flow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7599600" y="522612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c9c9c0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PDF Upload → Text Processing → Embeddings → ChromaDB.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7599600" y="61786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Query Flow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7599600" y="675972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c9c9c0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User Question → Vector Search → Context → AI Response.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780840" y="614880"/>
            <a:ext cx="9779400" cy="6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451"/>
              </a:lnSpc>
              <a:tabLst>
                <a:tab algn="l" pos="0"/>
              </a:tabLst>
            </a:pPr>
            <a:r>
              <a:rPr b="0" lang="en-US" sz="435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Core RAG Pipeline Implementation</a:t>
            </a:r>
            <a:endParaRPr b="0" lang="en-IN" sz="4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780840" y="1758240"/>
            <a:ext cx="222480" cy="1338120"/>
          </a:xfrm>
          <a:prstGeom prst="roundRect">
            <a:avLst>
              <a:gd name="adj" fmla="val 15007"/>
            </a:avLst>
          </a:prstGeom>
          <a:solidFill>
            <a:srgbClr val="3c3c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1226880" y="1981440"/>
            <a:ext cx="31215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Document Processing</a:t>
            </a:r>
            <a:endParaRPr b="0" lang="en-IN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1226880" y="2463480"/>
            <a:ext cx="126223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01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PyPDF2 extraction, 1000-word chunks, 200-word overlap.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1115280" y="3264120"/>
            <a:ext cx="222480" cy="1338120"/>
          </a:xfrm>
          <a:prstGeom prst="roundRect">
            <a:avLst>
              <a:gd name="adj" fmla="val 15007"/>
            </a:avLst>
          </a:prstGeom>
          <a:solidFill>
            <a:srgbClr val="3c3c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1561320" y="3487320"/>
            <a:ext cx="27885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Embeddings</a:t>
            </a:r>
            <a:endParaRPr b="0" lang="en-IN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1561320" y="3969720"/>
            <a:ext cx="1228788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01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Google text-embedding-004, task-specific optimization.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1450080" y="4770000"/>
            <a:ext cx="222480" cy="1338120"/>
          </a:xfrm>
          <a:prstGeom prst="roundRect">
            <a:avLst>
              <a:gd name="adj" fmla="val 15007"/>
            </a:avLst>
          </a:prstGeom>
          <a:solidFill>
            <a:srgbClr val="3c3c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1896120" y="4993200"/>
            <a:ext cx="27885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Vector Storage</a:t>
            </a:r>
            <a:endParaRPr b="0" lang="en-IN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1896120" y="5475600"/>
            <a:ext cx="1195308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01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ChromaDB local database with metadata.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1784880" y="6275880"/>
            <a:ext cx="222480" cy="1338120"/>
          </a:xfrm>
          <a:prstGeom prst="roundRect">
            <a:avLst>
              <a:gd name="adj" fmla="val 15007"/>
            </a:avLst>
          </a:prstGeom>
          <a:solidFill>
            <a:srgbClr val="3c3c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2230920" y="6499080"/>
            <a:ext cx="303084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Response Generation</a:t>
            </a:r>
            <a:endParaRPr b="0" lang="en-IN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2230920" y="6981480"/>
            <a:ext cx="116186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01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Gemini-1.5-Flash with conversation context.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793800" y="1364760"/>
            <a:ext cx="639072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Engineering Solutions</a:t>
            </a:r>
            <a:endParaRPr b="0" lang="en-IN" sz="4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0" descr="preencoded.png"/>
          <p:cNvPicPr/>
          <p:nvPr/>
        </p:nvPicPr>
        <p:blipFill>
          <a:blip r:embed="rId1"/>
          <a:stretch/>
        </p:blipFill>
        <p:spPr>
          <a:xfrm>
            <a:off x="793800" y="252720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1"/>
          <p:cNvSpPr/>
          <p:nvPr/>
        </p:nvSpPr>
        <p:spPr>
          <a:xfrm>
            <a:off x="793800" y="3377520"/>
            <a:ext cx="30225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Context Preservation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793800" y="3868200"/>
            <a:ext cx="415836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Sliding window for conversation history.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1" descr="preencoded.png"/>
          <p:cNvPicPr/>
          <p:nvPr/>
        </p:nvPicPr>
        <p:blipFill>
          <a:blip r:embed="rId2"/>
          <a:stretch/>
        </p:blipFill>
        <p:spPr>
          <a:xfrm>
            <a:off x="5235840" y="252720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3"/>
          <p:cNvSpPr/>
          <p:nvPr/>
        </p:nvSpPr>
        <p:spPr>
          <a:xfrm>
            <a:off x="5235840" y="33775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Chunk Boundaries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5235840" y="3868200"/>
            <a:ext cx="4158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Overlapping chunks prevent info loss.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2" descr="preencoded.png"/>
          <p:cNvPicPr/>
          <p:nvPr/>
        </p:nvPicPr>
        <p:blipFill>
          <a:blip r:embed="rId3"/>
          <a:stretch/>
        </p:blipFill>
        <p:spPr>
          <a:xfrm>
            <a:off x="9677880" y="252720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5"/>
          <p:cNvSpPr/>
          <p:nvPr/>
        </p:nvSpPr>
        <p:spPr>
          <a:xfrm>
            <a:off x="9677880" y="33775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Error Handling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9677880" y="3868200"/>
            <a:ext cx="415836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Multi-layer resilience, graceful fallbacks.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3" descr="preencoded.png"/>
          <p:cNvPicPr/>
          <p:nvPr/>
        </p:nvPicPr>
        <p:blipFill>
          <a:blip r:embed="rId4"/>
          <a:stretch/>
        </p:blipFill>
        <p:spPr>
          <a:xfrm>
            <a:off x="793800" y="516096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7"/>
          <p:cNvSpPr/>
          <p:nvPr/>
        </p:nvSpPr>
        <p:spPr>
          <a:xfrm>
            <a:off x="793800" y="60112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Source Attribution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793800" y="6501600"/>
            <a:ext cx="4158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Complete traceability to document.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735840" y="578160"/>
            <a:ext cx="84978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151"/>
              </a:lnSpc>
              <a:tabLst>
                <a:tab algn="l" pos="0"/>
              </a:tabLst>
            </a:pPr>
            <a:r>
              <a:rPr b="0" lang="en-US" sz="410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Working System Demonstration</a:t>
            </a:r>
            <a:endParaRPr b="0" lang="en-IN" sz="4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"/>
          <p:cNvSpPr/>
          <p:nvPr/>
        </p:nvSpPr>
        <p:spPr>
          <a:xfrm>
            <a:off x="735840" y="1655640"/>
            <a:ext cx="472680" cy="472680"/>
          </a:xfrm>
          <a:prstGeom prst="roundRect">
            <a:avLst>
              <a:gd name="adj" fmla="val 6668"/>
            </a:avLst>
          </a:prstGeom>
          <a:solidFill>
            <a:srgbClr val="3c3c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1419120" y="1728000"/>
            <a:ext cx="2628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205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PDF Upload</a:t>
            </a:r>
            <a:endParaRPr b="0" lang="en-IN" sz="2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1419120" y="2182680"/>
            <a:ext cx="124747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Real-time processing and embedding.</a:t>
            </a:r>
            <a:endParaRPr b="0" lang="en-IN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735840" y="2939400"/>
            <a:ext cx="472680" cy="472680"/>
          </a:xfrm>
          <a:prstGeom prst="roundRect">
            <a:avLst>
              <a:gd name="adj" fmla="val 6668"/>
            </a:avLst>
          </a:prstGeom>
          <a:solidFill>
            <a:srgbClr val="3c3c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1419120" y="3011760"/>
            <a:ext cx="29667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205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Natural Conversations</a:t>
            </a:r>
            <a:endParaRPr b="0" lang="en-IN" sz="2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1419120" y="3466440"/>
            <a:ext cx="124747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Ask questions about document content.</a:t>
            </a:r>
            <a:endParaRPr b="0" lang="en-IN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7"/>
          <p:cNvSpPr/>
          <p:nvPr/>
        </p:nvSpPr>
        <p:spPr>
          <a:xfrm>
            <a:off x="735840" y="4223520"/>
            <a:ext cx="472680" cy="472680"/>
          </a:xfrm>
          <a:prstGeom prst="roundRect">
            <a:avLst>
              <a:gd name="adj" fmla="val 6668"/>
            </a:avLst>
          </a:prstGeom>
          <a:solidFill>
            <a:srgbClr val="3c3c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1419120" y="4295520"/>
            <a:ext cx="2628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205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Source Citations</a:t>
            </a:r>
            <a:endParaRPr b="0" lang="en-IN" sz="2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9"/>
          <p:cNvSpPr/>
          <p:nvPr/>
        </p:nvSpPr>
        <p:spPr>
          <a:xfrm>
            <a:off x="1419120" y="4750200"/>
            <a:ext cx="124747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Every response shows exact sources.</a:t>
            </a:r>
            <a:endParaRPr b="0" lang="en-IN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0"/>
          <p:cNvSpPr/>
          <p:nvPr/>
        </p:nvSpPr>
        <p:spPr>
          <a:xfrm>
            <a:off x="735840" y="5507280"/>
            <a:ext cx="472680" cy="472680"/>
          </a:xfrm>
          <a:prstGeom prst="roundRect">
            <a:avLst>
              <a:gd name="adj" fmla="val 6668"/>
            </a:avLst>
          </a:prstGeom>
          <a:solidFill>
            <a:srgbClr val="3c3c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1419120" y="5579640"/>
            <a:ext cx="29599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205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Conversation Memory</a:t>
            </a:r>
            <a:endParaRPr b="0" lang="en-IN" sz="2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2"/>
          <p:cNvSpPr/>
          <p:nvPr/>
        </p:nvSpPr>
        <p:spPr>
          <a:xfrm>
            <a:off x="1419120" y="6034320"/>
            <a:ext cx="124747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Context maintained across questions.</a:t>
            </a:r>
            <a:endParaRPr b="0" lang="en-IN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3"/>
          <p:cNvSpPr/>
          <p:nvPr/>
        </p:nvSpPr>
        <p:spPr>
          <a:xfrm>
            <a:off x="735840" y="6791040"/>
            <a:ext cx="472680" cy="472680"/>
          </a:xfrm>
          <a:prstGeom prst="roundRect">
            <a:avLst>
              <a:gd name="adj" fmla="val 6668"/>
            </a:avLst>
          </a:prstGeom>
          <a:solidFill>
            <a:srgbClr val="3c3c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1419120" y="6863400"/>
            <a:ext cx="2628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2050" strike="noStrike" u="none">
                <a:solidFill>
                  <a:srgbClr val="c9c9c0"/>
                </a:solidFill>
                <a:effectLst/>
                <a:uFillTx/>
                <a:latin typeface="Tomorrow Semi Bold"/>
                <a:ea typeface="Tomorrow Semi Bold"/>
              </a:rPr>
              <a:t>Performance</a:t>
            </a:r>
            <a:endParaRPr b="0" lang="en-IN" sz="2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5"/>
          <p:cNvSpPr/>
          <p:nvPr/>
        </p:nvSpPr>
        <p:spPr>
          <a:xfrm>
            <a:off x="1419120" y="7318080"/>
            <a:ext cx="124747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2-3 seconds response, 90%+ accuracy.</a:t>
            </a:r>
            <a:endParaRPr b="0" lang="en-IN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793800" y="1716480"/>
            <a:ext cx="1170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Tech Stack Justification &amp; Achievements</a:t>
            </a:r>
            <a:endParaRPr b="0" lang="en-IN" sz="4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793800" y="29923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Streamlit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793800" y="357336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c9c9c0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Rapid prototyping, built-in chat.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793800" y="41630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Google Gemini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793800" y="474444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c9c9c0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Cost-effective ($0.075/1K tokens), fast.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93800" y="53341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ChromaDB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793800" y="591516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c9c9c0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Local-first, zero setup, development-friendly.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7599600" y="29923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Results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7599600" y="357336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c9c9c0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Complete RAG pipeline.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7599600" y="401580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c9c9c0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Source attribution.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7599600" y="445788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c9c9c0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Conversation memory.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7599600" y="50475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edede8"/>
                </a:solidFill>
                <a:effectLst/>
                <a:uFillTx/>
                <a:latin typeface="Tomorrow Semi Bold"/>
                <a:ea typeface="Tomorrow Semi Bold"/>
              </a:rPr>
              <a:t>Performance</a:t>
            </a:r>
            <a:endParaRPr b="0" lang="en-IN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2"/>
          <p:cNvSpPr/>
          <p:nvPr/>
        </p:nvSpPr>
        <p:spPr>
          <a:xfrm>
            <a:off x="7599600" y="562860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c9c9c0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3-5 sec processing.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7599600" y="607104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c9c9c0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c9c9c0"/>
                </a:solidFill>
                <a:effectLst/>
                <a:uFillTx/>
                <a:latin typeface="Tomorrow"/>
                <a:ea typeface="Tomorrow"/>
              </a:rPr>
              <a:t>1-2 sec queries.</a:t>
            </a:r>
            <a:endParaRPr b="0" lang="en-IN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LibreOffice/25.2.2.2$Linux_X86_64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2025-06-19T08:40:29Z</dcterms:created>
  <dc:creator/>
  <dc:description/>
  <dc:language>en-IN</dc:language>
  <cp:lastModifiedBy/>
  <dcterms:modified xsi:type="dcterms:W3CDTF">2025-06-19T14:11:58Z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